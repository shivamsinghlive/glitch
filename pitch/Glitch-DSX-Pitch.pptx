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11b7611-6827-0315-e9fe-275567f684fc}">
          <p14:sldIdLst>
            <p14:sldId id="256"/>
          </p14:sldIdLst>
        </p14:section>
        <p14:section name="Problem and product" id="{e805a928-17a5-a4f1-546b-48fc6b7275ba}">
          <p14:sldIdLst>
            <p14:sldId id="257"/>
            <p14:sldId id="258"/>
          </p14:sldIdLst>
        </p14:section>
        <p14:section name="Data science" id="{4fa08071-3e90-af4a-e510-5ece52c9625f}">
          <p14:sldIdLst>
            <p14:sldId id="259"/>
            <p14:sldId id="260"/>
            <p14:sldId id="261"/>
          </p14:sldIdLst>
        </p14:section>
        <p14:section name="Responsibility" id="{1199e805-8670-04ca-99cb-37fed64a60d0}">
          <p14:sldIdLst>
            <p14:sldId id="262"/>
            <p14:sldId id="263"/>
          </p14:sldIdLst>
        </p14:section>
        <p14:section name="Close" id="{752d46ad-80db-4523-3b82-3530a9e83dc4}">
          <p14:sldIdLst>
            <p14:sldId id="264"/>
          </p14:sldIdLst>
        </p14:section>
        <p14:section name="Appendix" id="{e2c2a687-9c5b-e43a-3227-947ab1249b23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4F5F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4F5F7"/>
                </a:solidFill>
                <a:latin typeface="+mn-lt"/>
              </a:rPr>
              <a:t>Night-sweat detector: threshold trade-off (simulated)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Precision: flagged nights that are real</c:v>
                </c:pt>
              </c:strCache>
            </c:strRef>
          </c:tx>
          <c:spPr>
            <a:solidFill>
              <a:srgbClr val="3987E5"/>
            </a:solidFill>
            <a:ln w="38100" cap="flat">
              <a:solidFill>
                <a:srgbClr val="3987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3987E5"/>
              </a:solidFill>
              <a:ln w="9525" cap="flat">
                <a:solidFill>
                  <a:srgbClr val="3987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+0.15</c:v>
                  </c:pt>
                  <c:pt idx="1">
                    <c:v>+0.20</c:v>
                  </c:pt>
                  <c:pt idx="2">
                    <c:v>+0.25</c:v>
                  </c:pt>
                  <c:pt idx="3">
                    <c:v>+0.30</c:v>
                  </c:pt>
                  <c:pt idx="4">
                    <c:v>+0.35</c:v>
                  </c:pt>
                  <c:pt idx="5">
                    <c:v>+0.40</c:v>
                  </c:pt>
                  <c:pt idx="6">
                    <c:v>+0.45</c:v>
                  </c:pt>
                  <c:pt idx="7">
                    <c:v>+0.50</c:v>
                  </c:pt>
                  <c:pt idx="8">
                    <c:v>+0.60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0.899</c:v>
                </c:pt>
                <c:pt idx="1">
                  <c:v>0.922</c:v>
                </c:pt>
                <c:pt idx="2">
                  <c:v>0.933</c:v>
                </c:pt>
                <c:pt idx="3">
                  <c:v>0.938</c:v>
                </c:pt>
                <c:pt idx="4">
                  <c:v>0.936</c:v>
                </c:pt>
                <c:pt idx="5">
                  <c:v>0.939</c:v>
                </c:pt>
                <c:pt idx="6">
                  <c:v>0.94</c:v>
                </c:pt>
                <c:pt idx="7">
                  <c:v>0.952</c:v>
                </c:pt>
                <c:pt idx="8">
                  <c:v>0.946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Recall: real sweats caught</c:v>
                </c:pt>
              </c:strCache>
            </c:strRef>
          </c:tx>
          <c:spPr>
            <a:solidFill>
              <a:srgbClr val="D95926"/>
            </a:solidFill>
            <a:ln w="38100" cap="flat">
              <a:solidFill>
                <a:srgbClr val="D959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5926"/>
              </a:solidFill>
              <a:ln w="9525" cap="flat">
                <a:solidFill>
                  <a:srgbClr val="D959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+0.15</c:v>
                  </c:pt>
                  <c:pt idx="1">
                    <c:v>+0.20</c:v>
                  </c:pt>
                  <c:pt idx="2">
                    <c:v>+0.25</c:v>
                  </c:pt>
                  <c:pt idx="3">
                    <c:v>+0.30</c:v>
                  </c:pt>
                  <c:pt idx="4">
                    <c:v>+0.35</c:v>
                  </c:pt>
                  <c:pt idx="5">
                    <c:v>+0.40</c:v>
                  </c:pt>
                  <c:pt idx="6">
                    <c:v>+0.45</c:v>
                  </c:pt>
                  <c:pt idx="7">
                    <c:v>+0.50</c:v>
                  </c:pt>
                  <c:pt idx="8">
                    <c:v>+0.60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0.651</c:v>
                </c:pt>
                <c:pt idx="1">
                  <c:v>0.601</c:v>
                </c:pt>
                <c:pt idx="2">
                  <c:v>0.55</c:v>
                </c:pt>
                <c:pt idx="3">
                  <c:v>0.488</c:v>
                </c:pt>
                <c:pt idx="4">
                  <c:v>0.435</c:v>
                </c:pt>
                <c:pt idx="5">
                  <c:v>0.376</c:v>
                </c:pt>
                <c:pt idx="6">
                  <c:v>0.328</c:v>
                </c:pt>
                <c:pt idx="7">
                  <c:v>0.277</c:v>
                </c:pt>
                <c:pt idx="8">
                  <c:v>0.183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8B909A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8B909A"/>
                    </a:solidFill>
                    <a:latin typeface="Arial"/>
                  </a:rPr>
                  <a:t>Temperature threshold above her baseline (°C)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CCD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22252D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CCD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C9CCD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4F5F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4F5F7"/>
                </a:solidFill>
                <a:latin typeface="+mn-lt"/>
              </a:rPr>
              <a:t>Hot-flash model: AUC by group (TSHS, real)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3987E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4F5F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Not African American (n=193)</c:v>
                  </c:pt>
                  <c:pt idx="1">
                    <c:v>African American (n=182)</c:v>
                  </c:pt>
                  <c:pt idx="2">
                    <c:v>Lower education (n=39)</c:v>
                  </c:pt>
                  <c:pt idx="3">
                    <c:v>Higher education (n=336)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0.692</c:v>
                </c:pt>
                <c:pt idx="1">
                  <c:v>0.719</c:v>
                </c:pt>
                <c:pt idx="2">
                  <c:v>0.592</c:v>
                </c:pt>
                <c:pt idx="3">
                  <c:v>0.722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F4F5F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CCD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5"/>
        </c:scaling>
        <c:delete val="1"/>
        <c:axPos val="b"/>
        <c:majorGridlines>
          <c:spPr>
            <a:ln w="9525" cap="flat">
              <a:solidFill>
                <a:srgbClr val="22252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CCD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0:00. Hi, we're team Glitch. Glitch is a voice-first health coach for women in perimenopause and menopause. In the next four minutes: the problem, a live demo, the data science behind it, and how we kept it responsible.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0:15. Half of midlife women have menopause symptoms and one in six takes a prescription. Hot flashes last a median of seven years. A clinic visit is a snapshot; her wearable records every night. Nothing connects the two. That's the gap Glitch fills.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Demo time. Open /?reset, tap 'Here for menopause support', connect the WHOOP demo, and say 'I'm having a hot flash', then 'my blood pressure is 132 over 84'. Show the night-sweat chart and the doctor summary. Say clearly: the wearable data in the demo is simulated because no public WHOOP dataset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2:00. Three real pieces. A hot-flash risk model trained on 375 women from a real study: AUC 0.73, F1 0.61, and honestly most of its signal is one question, earlier symptoms. A fairness audit: we never score anyone by race, but we use it to measure; ranking and calibration are similar, error rates are not. And we compare each user with NHANES, a US national survey. The night-sweat and ovulation detectors were stress-tested on simulated nights with known answers, because no public dataset has confirmed night sweats. Be upfront that those are simulated.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2:45. Left: the night-sweat detector. At plus 0.35 degrees it is right 94% of the time with 1% false alarms; lowering the threshold catches more sweats, and the lab in the app lets you drag it. Right: model ranking accuracy by group. Race isn't a feature and ranking is similar across racial groups, but I'll be honest on the next slides that error rates are not equal at a fixed cutoff. The pale bar is only 39 women, so a hint, not a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live demo fails, this slide is the backup. Left: where her blood pressure and sleep sit among US women her age. Middle: the calibration curve and fairness check. Right: the night-sweat lab where dragging the threshold re-scores simulated nights.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3:05. We tested our own claims. One: we'd said only text and a mood label reach the AI. That was wrong: the coach prompt included name, conditions and WHOOP scores. We built three AI modes, default to chat-only, and a live panel showing exactly what was sent. Two: 'equal across groups' was only true for ranking and calibration. At one cutoff the model flags 54% of one group and 30% of the other, because base rates differ, so we publish that table and never use the flag to gate care. Three: sensors. A constant offset doesn't matter because we compare each woman to herself, but noisy sensors hurt, which is why a pilot across skin tones comes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3:30. Everything is encrypted on the device, there is no database, and race isn't used in the model. Every number is labelled educational, estimated or simulated, and the app never diagnoses: alerts point to a clinician. We also name our known risks: wearable cost bias, a 2001 cohort, and sensor accuracy across skin tones that we haven't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3:45. Next: connect real WHOOP data, validate the detectors on hormone-confirmed data, and run a small clinician pilot. Glitch gives women evidence, not guesswork.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presented. Every number here is in the app under Model evidence, Scores, and in EVALUATION.md. Precision is how often a yes is right; recall is how many real cases it catches; F1 balances both; MCC is 0 for no better than chance.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presented. A full list of what is in the app, for judges reading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presented. Architecture and build summary. Disclosure: built with AI assistance (Kiro and Claude Code); the team set the problem, reviewed the output and tested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Glitch · BU Spark! DS+X 2026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Glitch · BU Spark! DS+X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8686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BU SPARK! DS+X HACKATHON 2026  ·  HEALTHHACK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37160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Glitch</a:t>
            </a:r>
            <a:endParaRPr lang="en-US" sz="10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0632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</a:rPr>
              <a:t>Find the bug. Fix your health.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7947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voice-first health coach for women in perimenopause and menopause, built on wearable data.</a:t>
            </a:r>
            <a:endParaRPr lang="en-US" sz="1800" dirty="0"/>
          </a:p>
        </p:txBody>
      </p:sp>
      <p:sp>
        <p:nvSpPr>
          <p:cNvPr id="7" name="chip"/>
          <p:cNvSpPr/>
          <p:nvPr/>
        </p:nvSpPr>
        <p:spPr>
          <a:xfrm>
            <a:off x="731520" y="5074920"/>
            <a:ext cx="182880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5074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TSHS · 375 women</a:t>
            </a:r>
            <a:endParaRPr lang="en-US" sz="1300" dirty="0"/>
          </a:p>
        </p:txBody>
      </p:sp>
      <p:sp>
        <p:nvSpPr>
          <p:cNvPr id="9" name="chip"/>
          <p:cNvSpPr/>
          <p:nvPr/>
        </p:nvSpPr>
        <p:spPr>
          <a:xfrm>
            <a:off x="2670048" y="5074920"/>
            <a:ext cx="224028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670048" y="5074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NHANES · 1,811 women</a:t>
            </a:r>
            <a:endParaRPr lang="en-US" sz="1300" dirty="0"/>
          </a:p>
        </p:txBody>
      </p:sp>
      <p:sp>
        <p:nvSpPr>
          <p:cNvPr id="11" name="chip"/>
          <p:cNvSpPr/>
          <p:nvPr/>
        </p:nvSpPr>
        <p:spPr>
          <a:xfrm>
            <a:off x="5020056" y="5074920"/>
            <a:ext cx="132588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0056" y="5074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131 tests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669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Real public data, audited for fairness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6903720" y="502920"/>
            <a:ext cx="2514600" cy="54864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5" name="Image 0" descr="assets/phone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594360"/>
            <a:ext cx="2331720" cy="5056632"/>
          </a:xfrm>
          <a:prstGeom prst="rect">
            <a:avLst/>
          </a:prstGeom>
        </p:spPr>
      </p:pic>
      <p:sp>
        <p:nvSpPr>
          <p:cNvPr id="16" name="card"/>
          <p:cNvSpPr/>
          <p:nvPr/>
        </p:nvSpPr>
        <p:spPr>
          <a:xfrm>
            <a:off x="9555480" y="1097280"/>
            <a:ext cx="2514600" cy="5486400"/>
          </a:xfrm>
          <a:prstGeom prst="roundRect">
            <a:avLst>
              <a:gd name="adj" fmla="val 436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7" name="Image 1" descr="assets/phone_l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188720"/>
            <a:ext cx="2331720" cy="50566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Doctors see a snapshot. Wearables see every night.</a:t>
            </a:r>
            <a:endParaRPr lang="en-US" sz="3600" dirty="0"/>
          </a:p>
        </p:txBody>
      </p:sp>
      <p:sp>
        <p:nvSpPr>
          <p:cNvPr id="5" name="card"/>
          <p:cNvSpPr/>
          <p:nvPr/>
        </p:nvSpPr>
        <p:spPr>
          <a:xfrm>
            <a:off x="548640" y="1783080"/>
            <a:ext cx="3520440" cy="2697480"/>
          </a:xfrm>
          <a:prstGeom prst="roundRect">
            <a:avLst>
              <a:gd name="adj" fmla="val 406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9659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49.4%</a:t>
            </a:r>
            <a:endParaRPr lang="en-US" sz="5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of US women aged 40–60 had menopause symptoms in the past year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CDC NCHS, 2025 data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4343400" y="1783080"/>
            <a:ext cx="3520440" cy="2697480"/>
          </a:xfrm>
          <a:prstGeom prst="roundRect">
            <a:avLst>
              <a:gd name="adj" fmla="val 406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7720" y="19659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15.6%</a:t>
            </a:r>
            <a:endParaRPr lang="en-US" sz="58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of those women take a prescription for their symptoms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CDC NCHS, 2025 data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8138160" y="1783080"/>
            <a:ext cx="3520440" cy="2697480"/>
          </a:xfrm>
          <a:prstGeom prst="roundRect">
            <a:avLst>
              <a:gd name="adj" fmla="val 406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0" y="19659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7.4 yrs</a:t>
            </a:r>
            <a:endParaRPr lang="en-US" sz="58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30175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median length of frequent hot flashes and night sweats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SWAN study, 1,449 women</a:t>
            </a:r>
            <a:endParaRPr lang="en-US" sz="1100" dirty="0"/>
          </a:p>
        </p:txBody>
      </p:sp>
      <p:sp>
        <p:nvSpPr>
          <p:cNvPr id="17" name="gap band"/>
          <p:cNvSpPr/>
          <p:nvPr/>
        </p:nvSpPr>
        <p:spPr>
          <a:xfrm>
            <a:off x="548640" y="4754880"/>
            <a:ext cx="11109960" cy="123444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68680" y="4754880"/>
            <a:ext cx="10469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The gap: </a:t>
            </a:r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 15-minute visit can't capture last month. Her wearable already recorded it. Glitch turns those nights into evidence a doctor can use.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1081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Sources: CDC NCHS Data Brief 575; Avis et al., JAMA Intern Med 2015 (SWAN)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WHAT GLITCH DOES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Talk to it. It does the tracking.</a:t>
            </a:r>
            <a:endParaRPr lang="en-US" sz="36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2194560" cy="452628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6" name="Image 0" descr="assets/phone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2011680" cy="4361688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3154680" y="1691640"/>
            <a:ext cx="850392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icon circle"/>
          <p:cNvSpPr/>
          <p:nvPr/>
        </p:nvSpPr>
        <p:spPr>
          <a:xfrm>
            <a:off x="3383280" y="1892808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9" name="Image 1" descr="assets/icon_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2048256"/>
            <a:ext cx="329184" cy="32918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251960" y="18288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Voice logging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4251960" y="222199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Say “I'm having a hot flash” or “my blood pressure is 132 over 84”. It's logged hands-free.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3154680" y="2852928"/>
            <a:ext cx="850392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icon circle"/>
          <p:cNvSpPr/>
          <p:nvPr/>
        </p:nvSpPr>
        <p:spPr>
          <a:xfrm>
            <a:off x="3383280" y="3054096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4" name="Image 2" descr="assets/icon_tem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3209544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251960" y="299008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Night-sweat detection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4251960" y="33832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Flags nights that run warm against her own baseline and have broken sleep.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3154680" y="4014216"/>
            <a:ext cx="850392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icon circle"/>
          <p:cNvSpPr/>
          <p:nvPr/>
        </p:nvSpPr>
        <p:spPr>
          <a:xfrm>
            <a:off x="3383280" y="4215384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9" name="Image 3" descr="assets/icon_he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4370832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251960" y="415137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Staging and alerts</a:t>
            </a:r>
            <a:endParaRPr lang="en-US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4251960" y="454456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STRAW+10 menopause stage, plus blood-pressure, sleep and mood alerts.</a:t>
            </a:r>
            <a:endParaRPr lang="en-US" sz="1500" dirty="0"/>
          </a:p>
        </p:txBody>
      </p:sp>
      <p:sp>
        <p:nvSpPr>
          <p:cNvPr id="22" name="card"/>
          <p:cNvSpPr/>
          <p:nvPr/>
        </p:nvSpPr>
        <p:spPr>
          <a:xfrm>
            <a:off x="3154680" y="5175504"/>
            <a:ext cx="850392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icon circle"/>
          <p:cNvSpPr/>
          <p:nvPr/>
        </p:nvSpPr>
        <p:spPr>
          <a:xfrm>
            <a:off x="3383280" y="5376672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4" name="Image 4" descr="assets/icon_do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5532120"/>
            <a:ext cx="329184" cy="32918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251960" y="531266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Doctor summary</a:t>
            </a:r>
            <a:endParaRPr lang="en-US" sz="2000" dirty="0"/>
          </a:p>
        </p:txBody>
      </p:sp>
      <p:sp>
        <p:nvSpPr>
          <p:cNvPr id="26" name="Text 18"/>
          <p:cNvSpPr txBox="1"/>
          <p:nvPr/>
        </p:nvSpPr>
        <p:spPr>
          <a:xfrm>
            <a:off x="4251960" y="570585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One printable page: weekly flashes, sweats, sleep, HRV, blood pressure and mood.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DATA SCIENCE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Real data, real methods, honest labels</a:t>
            </a:r>
            <a:endParaRPr lang="en-US" sz="3600" dirty="0"/>
          </a:p>
        </p:txBody>
      </p:sp>
      <p:graphicFrame>
        <p:nvGraphicFramePr>
          <p:cNvPr id="5" name="method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109960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3108960"/>
                <a:gridCol w="4572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909A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5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909A"/>
                          </a:solidFill>
                        </a:rPr>
                        <a:t>DATA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5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909A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52D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5F7"/>
                          </a:solidFill>
                        </a:rPr>
                        <a:t>Hot-flash risk · ridge logistic regression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FD08B"/>
                          </a:solidFill>
                        </a:rPr>
                        <a:t>REAL 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5F7"/>
                          </a:solidFill>
                        </a:rPr>
                        <a:t>TSHS study, 375 women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5F7"/>
                          </a:solidFill>
                        </a:rPr>
                        <a:t>F1 0.61, MCC 0.40, AUC 0.73. Honest: most of the signal is one question, earlier symptoms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5F7"/>
                          </a:solidFill>
                        </a:rPr>
                        <a:t>Fairness audit and calibration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FD08B"/>
                          </a:solidFill>
                        </a:rPr>
                        <a:t>REAL 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5F7"/>
                          </a:solidFill>
                        </a:rPr>
                        <a:t>Same TSHS data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5F7"/>
                          </a:solidFill>
                        </a:rPr>
                        <a:t>Race used to audit, never to score. Ranking and calibration similar; error-rate gaps published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5F7"/>
                          </a:solidFill>
                        </a:rPr>
                        <a:t>Population reference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FD08B"/>
                          </a:solidFill>
                        </a:rPr>
                        <a:t>REAL 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5F7"/>
                          </a:solidFill>
                        </a:rPr>
                        <a:t>NHANES 2017–18, 1,811 US women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5F7"/>
                          </a:solidFill>
                        </a:rPr>
                        <a:t>Percentiles by age, and who is affected: high BP 62% Black vs 38% White women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5F7"/>
                          </a:solidFill>
                        </a:rPr>
                        <a:t>Night-sweat detector · personal 14-night baseline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8A4C"/>
                          </a:solidFill>
                        </a:rPr>
                        <a:t>SIMULATED 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5F7"/>
                          </a:solidFill>
                        </a:rPr>
                        <a:t>6,780 nights, known answers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5F7"/>
                          </a:solidFill>
                        </a:rPr>
                        <a:t>Precision 94%, recall 44%, F1 0.59. 1% false alarms (17% on sleep alone)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5F7"/>
                          </a:solidFill>
                        </a:rPr>
                        <a:t>Ovulation detector · “3 over 6” rule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8A4C"/>
                          </a:solidFill>
                        </a:rPr>
                        <a:t>SIMULATED 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5F7"/>
                          </a:solidFill>
                        </a:rPr>
                        <a:t>600 cycles, 15% anovulatory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5F7"/>
                          </a:solidFill>
                        </a:rPr>
                        <a:t>Recall 87%, rejects 90% of no-ovulation cycles, F1 0.92, MCC 0.64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5F7"/>
                          </a:solidFill>
                        </a:rPr>
                        <a:t>Trigger finder · permutation test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99BFF"/>
                          </a:solidFill>
                        </a:rPr>
                        <a:t>PER USER 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5F7"/>
                          </a:solidFill>
                        </a:rPr>
                        <a:t>Her own symptom logs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5F7"/>
                          </a:solidFill>
                        </a:rPr>
                        <a:t>False triggers cut from 24% to 9% of users (simple rule vs corrected)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4F5F7"/>
                          </a:solidFill>
                        </a:rPr>
                        <a:t>Evidence-grounded plans · BM25 retrieval (RAG)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A99BFF"/>
                          </a:solidFill>
                        </a:rPr>
                        <a:t>CITED  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5F7"/>
                          </a:solidFill>
                        </a:rPr>
                        <a:t>13 passages, 18 test questions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F5F7"/>
                          </a:solidFill>
                        </a:rPr>
                        <a:t>Right passage in top 3: 100%. 0 equipment errors in 3,000 plans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14476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REAL = public dataset.  SIMULATED = known answers we generated: a stress test of the method, not clinical validation.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RESULTS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Right when it flags, honest about who it misses</a:t>
            </a:r>
            <a:endParaRPr lang="en-US" sz="36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6400800" cy="3886200"/>
          </a:xfrm>
          <a:prstGeom prst="roundRect">
            <a:avLst>
              <a:gd name="adj" fmla="val 282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card"/>
          <p:cNvSpPr/>
          <p:nvPr/>
        </p:nvSpPr>
        <p:spPr>
          <a:xfrm>
            <a:off x="7178040" y="1691640"/>
            <a:ext cx="4480560" cy="3886200"/>
          </a:xfrm>
          <a:prstGeom prst="roundRect">
            <a:avLst>
              <a:gd name="adj" fmla="val 282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graphicFrame>
        <p:nvGraphicFramePr>
          <p:cNvPr id="7" name="threshold chart" descr=""/>
          <p:cNvGraphicFramePr/>
          <p:nvPr/>
        </p:nvGraphicFramePr>
        <p:xfrm>
          <a:off x="685800" y="1783080"/>
          <a:ext cx="612648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fairness chart" descr=""/>
          <p:cNvGraphicFramePr/>
          <p:nvPr/>
        </p:nvGraphicFramePr>
        <p:xfrm>
          <a:off x="7315200" y="1783080"/>
          <a:ext cx="42062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48640" y="5715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At +0.35 °C: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94% of flagged nights are real sweats, 1% false alarms. Lower it to catch more.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7178040" y="57150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Axis starts at 0.5 (a coin flip).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Education gap rests on 39 women: a hint, not a verdict.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LIVE IN THE APP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evidence is inside the product</a:t>
            </a:r>
            <a:endParaRPr lang="en-US" sz="3600" dirty="0"/>
          </a:p>
        </p:txBody>
      </p:sp>
      <p:sp>
        <p:nvSpPr>
          <p:cNvPr id="5" name="card"/>
          <p:cNvSpPr/>
          <p:nvPr/>
        </p:nvSpPr>
        <p:spPr>
          <a:xfrm>
            <a:off x="777240" y="1600200"/>
            <a:ext cx="3291840" cy="37947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6" name="Image 0" descr="assets/crop_yo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3108960" cy="3611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5486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You vs US women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58155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Her blood pressure and sleep as percentiles of NHANES women her age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572000" y="1600200"/>
            <a:ext cx="3291840" cy="37947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0" name="Image 1" descr="assets/crop_fa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691640"/>
            <a:ext cx="3108960" cy="36118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572000" y="5486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Is it fair?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4572000" y="58155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Calibration curve and accuracy by group, in plain language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366760" y="1600200"/>
            <a:ext cx="3291840" cy="37947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14" name="Image 2" descr="assets/crop_la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691640"/>
            <a:ext cx="3108960" cy="36118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366760" y="54864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Night-sweat lab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8366760" y="58155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Drag the threshold and watch simulated nights re-score live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RESPONSIBILITY AND ETHICS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We audited ourselves, and fixed what we found</a:t>
            </a:r>
            <a:endParaRPr lang="en-US" sz="36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 modes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Privacy claim was wrong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The coach saw name, conditions and WHOOP scores. Now: AI off, chat only (default), or opt-in health summary. A live panel shows exactly what was sent.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343400" y="169164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7720" y="1828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54% vs 30%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Fair ranking, unequal errors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617720" y="310896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Flagged as above average, by group. Ranking is similar (AUC 0.69, 0.72) but base rates differ (39% vs 25%), so false alarms are 38% vs 21%. We measure by race, never score by it.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38160" y="169164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0" y="18288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94% → 78%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Sensors may not be equal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310896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Detector precision with 3× noisier skin-temperature readings. A constant offset changes nothing: each woman is compared with herself.</a:t>
            </a:r>
            <a:endParaRPr lang="en-US" sz="1500" dirty="0"/>
          </a:p>
        </p:txBody>
      </p:sp>
      <p:sp>
        <p:nvSpPr>
          <p:cNvPr id="17" name="a11y band"/>
          <p:cNvSpPr/>
          <p:nvPr/>
        </p:nvSpPr>
        <p:spPr>
          <a:xfrm>
            <a:off x="548640" y="5074920"/>
            <a:ext cx="11109960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50749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Accessibility: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axe-core (WCAG 2.1 A and AA) on 6 screens found 3 kinds of issue (zoom disabled, chart with no text alternative, low-contrast buttons). All fixed; re-run shows zero violations.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RESPONSIBILITY AND ETHICS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Built to do no harm</a:t>
            </a:r>
            <a:endParaRPr lang="en-US" sz="36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icon circle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7" name="Image 0" descr="assets/icon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30552"/>
            <a:ext cx="356616" cy="3566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Privacy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737360" y="23774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Encrypted on the device, no database. The AI sees only what she says unless she opts in to share a health summary.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6217920" y="169164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6492240" y="1965960"/>
            <a:ext cx="685800" cy="6858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2" name="Image 1" descr="assets/icon_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130552"/>
            <a:ext cx="356616" cy="3566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06640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Fairness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7406640" y="23774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We never score by race, but we measure by it: error gaps and national disparities are published in the app.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548640" y="365760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822960" y="3931920"/>
            <a:ext cx="685800" cy="6858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7" name="Image 2" descr="assets/icon_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096512"/>
            <a:ext cx="356616" cy="35661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737360" y="3913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Transparency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1737360" y="43434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Every number is labelled educational, estimated or simulated. A model card is in the app.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6217920" y="3657600"/>
            <a:ext cx="544068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icon circle"/>
          <p:cNvSpPr/>
          <p:nvPr/>
        </p:nvSpPr>
        <p:spPr>
          <a:xfrm>
            <a:off x="6492240" y="3931920"/>
            <a:ext cx="685800" cy="68580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2" name="Image 3" descr="assets/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096512"/>
            <a:ext cx="356616" cy="35661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06640" y="3913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Harm mitigation</a:t>
            </a:r>
            <a:endParaRPr lang="en-US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7406640" y="43434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Not a diagnosis. Ten harms are tabled with mitigations. Logging and alerts still work if the AI is down.</a:t>
            </a:r>
            <a:endParaRPr lang="en-US" sz="1500" dirty="0"/>
          </a:p>
        </p:txBody>
      </p:sp>
      <p:sp>
        <p:nvSpPr>
          <p:cNvPr id="25" name="risks band"/>
          <p:cNvSpPr/>
          <p:nvPr/>
        </p:nvSpPr>
        <p:spPr>
          <a:xfrm>
            <a:off x="548640" y="5669280"/>
            <a:ext cx="11109960" cy="566928"/>
          </a:xfrm>
          <a:prstGeom prst="roundRect">
            <a:avLst>
              <a:gd name="adj" fmla="val 19355"/>
            </a:avLst>
          </a:prstGeom>
          <a:solidFill>
            <a:schemeClr val="accent6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822960" y="56692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Known risks: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wearable cost bias · a small 2001 cohort · skin-tone sensor differences untested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WHAT'S NEXT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325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Evidence, not guesswork.</a:t>
            </a:r>
            <a:endParaRPr lang="en-US" sz="6000" dirty="0"/>
          </a:p>
        </p:txBody>
      </p:sp>
      <p:sp>
        <p:nvSpPr>
          <p:cNvPr id="5" name="card"/>
          <p:cNvSpPr/>
          <p:nvPr/>
        </p:nvSpPr>
        <p:spPr>
          <a:xfrm>
            <a:off x="731520" y="2926080"/>
            <a:ext cx="347472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Connect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37490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Live WHOOP sync with server-side tokens, replacing the simulated demo data.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434840" y="2926080"/>
            <a:ext cx="347472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0916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Validate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37490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Check ovulation and night-sweat detection on hormone-confirmed data (mcPHASES, once access comes through).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8138160" y="2926080"/>
            <a:ext cx="347472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Pilot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74904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20–30 women aged 40–60, with consent, and clinician review of the doctor summary.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54406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Demo wearable data is simulated: no public WHOOP dataset exists. Models are trained on TSHS and calibrated against NHANES.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Thank you  ·  github.com/rohinimachavolu/Glitch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APPENDIX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Scorecards and error analysis</a:t>
            </a:r>
            <a:endParaRPr lang="en-US" sz="3600" dirty="0"/>
          </a:p>
        </p:txBody>
      </p:sp>
      <p:graphicFrame>
        <p:nvGraphicFramePr>
          <p:cNvPr id="11" name="scorecar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109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31520"/>
                <a:gridCol w="1005840"/>
                <a:gridCol w="640080"/>
                <a:gridCol w="640080"/>
                <a:gridCol w="2514600"/>
                <a:gridCol w="3291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909A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5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909A"/>
                          </a:solidFill>
                        </a:rPr>
                        <a:t>PREC.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5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909A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5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909A"/>
                          </a:solidFill>
                        </a:rPr>
                        <a:t>F1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5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909A"/>
                          </a:solidFill>
                        </a:rPr>
                        <a:t>MCC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5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909A"/>
                          </a:solidFill>
                        </a:rPr>
                        <a:t>DUMB BASELINE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5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B909A"/>
                          </a:solidFill>
                        </a:rPr>
                        <a:t>BIGGEST ERROR CAUSE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5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5F7"/>
                          </a:solidFill>
                        </a:rPr>
                        <a:t>Hot-flash risk (real, n=375)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54%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71%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0.61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0.40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Always “no”: 69% accurate, F1 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All misses have no earlier symptoms; all false alarms have them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5F7"/>
                          </a:solidFill>
                        </a:rPr>
                        <a:t>Night sweats (simulated)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94%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44%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0.59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0.57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Always “normal”: 75% accurate, F1 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87% of misses: temperature barely rose. 88% of false alarms: warm non-sweat nights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5F7"/>
                          </a:solidFill>
                        </a:rPr>
                        <a:t>Ovulation (simulated)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98%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87%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0.92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0.64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Always “yes”: F1 0.92, MCC 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31% missed when the rise is under 0.3 °C; runs 0.4 days late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5F7"/>
                          </a:solidFill>
                        </a:rPr>
                        <a:t>Trigger finder (simulated)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n/a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79% at 2×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n/a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n/a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Simple rule: 24% false triggers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Misses mild (1.5×) triggers in 60 days: 33% found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5F7"/>
                          </a:solidFill>
                        </a:rPr>
                        <a:t>Evidence retrieval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86%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92%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n/a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n/a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Random 3: 36% hit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5F7"/>
                          </a:solidFill>
                        </a:rPr>
                        <a:t>Answers written by us; tuned after one miss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225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91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Accuracy alone misleads when one answer is rare, so every model is compared with a dumb baseline. Simulated rows are stress tests on cases with known answers.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APPENDIX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Everything Glitch does</a:t>
            </a:r>
            <a:endParaRPr lang="en-US" sz="36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5564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Voice coach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031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Talking avatar, hands-free; reads mood on-device from face, voice tone and words.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217920" y="164592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175564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Night sweats and cycles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21031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Warm-night detection against her own baseline; ovulation confirmation.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48640" y="278892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89864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Stage and alerts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2461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STRAW+10 stage, early-menopause flags, blood-pressure, sleep and mood alerts, PHQ-2/GAD-2.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6217920" y="278892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289864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Plans from your choices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32461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Goal, equipment, styles and days rebuild the plan and food targets, with cited evidence.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548640" y="393192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04164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Bone health and Form Coach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3891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Strength and impact training for bone; camera form feedback with MediaPipe.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6217920" y="393192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46520" y="404164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Food, three ways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6446520" y="43891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Voice, photo (with consent) or typed. Targets computed from your numbers, never guessed.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548640" y="507492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18464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Supplements and check-ins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5321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Timing rules for iron, calcium and more; appraisal-based mood check-ins.</a:t>
            </a:r>
            <a:endParaRPr lang="en-US" sz="1400" dirty="0"/>
          </a:p>
        </p:txBody>
      </p:sp>
      <p:sp>
        <p:nvSpPr>
          <p:cNvPr id="26" name="card"/>
          <p:cNvSpPr/>
          <p:nvPr/>
        </p:nvSpPr>
        <p:spPr>
          <a:xfrm>
            <a:off x="6217920" y="507492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46520" y="518464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Your data, your call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6446520" y="553212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AI off, chat only or opt-in summary; see what was sent; export; delete everything.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APPENDIX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How it is built</a:t>
            </a:r>
            <a:endParaRPr lang="en-US" sz="36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28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Runs in the browser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React 19, TypeScript, Vite, Tailwind, framer-motion, Recharts. Encrypted storage (AES-GCM). MediaPipe and Web Speech on-device.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43400" y="164592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17720" y="1828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Small server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4617720" y="237744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Express serves the app and a Groq proxy that holds the key, fails over between models and rate-limits. No database, no health data stored.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8138160" y="164592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0" y="1828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Trained and checked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237744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Python trains the risk model on TSHS. 167 automated tests, an axe accessibility audit with zero violations, fairness and sensor stress tests.</a:t>
            </a:r>
            <a:endParaRPr lang="en-US" sz="1500" dirty="0"/>
          </a:p>
        </p:txBody>
      </p:sp>
      <p:sp>
        <p:nvSpPr>
          <p:cNvPr id="14" name="ai band"/>
          <p:cNvSpPr/>
          <p:nvPr/>
        </p:nvSpPr>
        <p:spPr>
          <a:xfrm>
            <a:off x="548640" y="4937760"/>
            <a:ext cx="11109960" cy="914400"/>
          </a:xfrm>
          <a:prstGeom prst="roundRect">
            <a:avLst>
              <a:gd name="adj" fmla="val 12000"/>
            </a:avLst>
          </a:prstGeom>
          <a:solidFill>
            <a:schemeClr val="accent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4937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AI use disclosure: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built with AI assistance (Kiro and Claude Code). We set the problem, reviewed and curated the output, and checked it with tests, an accessibility audit and the fairness analysis.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itch Night">
  <a:themeElements>
    <a:clrScheme name="Glitch Night">
      <a:dk1>
        <a:srgbClr val="0D0E12"/>
      </a:dk1>
      <a:lt1>
        <a:srgbClr val="F4F5F7"/>
      </a:lt1>
      <a:dk2>
        <a:srgbClr val="17191F"/>
      </a:dk2>
      <a:lt2>
        <a:srgbClr val="C9CCD3"/>
      </a:lt2>
      <a:accent1>
        <a:srgbClr val="FF8A4C"/>
      </a:accent1>
      <a:accent2>
        <a:srgbClr val="5FD08B"/>
      </a:accent2>
      <a:accent3>
        <a:srgbClr val="A99BFF"/>
      </a:accent3>
      <a:accent4>
        <a:srgbClr val="FF6B6B"/>
      </a:accent4>
      <a:accent5>
        <a:srgbClr val="8B909A"/>
      </a:accent5>
      <a:accent6>
        <a:srgbClr val="22252D"/>
      </a:accent6>
      <a:hlink>
        <a:srgbClr val="5FD08B"/>
      </a:hlink>
      <a:folHlink>
        <a:srgbClr val="A99BFF"/>
      </a:folHlink>
    </a:clrScheme>
    <a:fontScheme name="Glitch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Glitch: DS+X pitch</dc:title>
  <dc:subject>PptxGenJS Presentation</dc:subject>
  <dc:creator>PptxGenJS</dc:creator>
  <cp:lastModifiedBy>PptxGenJS</cp:lastModifiedBy>
  <cp:revision>1</cp:revision>
  <dcterms:created xsi:type="dcterms:W3CDTF">2026-10-25T05:47:43Z</dcterms:created>
  <dcterms:modified xsi:type="dcterms:W3CDTF">2026-10-25T05:47:43Z</dcterms:modified>
</cp:coreProperties>
</file>